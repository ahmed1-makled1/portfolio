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17"/>
  </p:notesMasterIdLst>
  <p:sldIdLst>
    <p:sldId id="256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5C7BBF-F909-4D83-8C18-54ACA0C9F734}">
          <p14:sldIdLst>
            <p14:sldId id="256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Default Section" id="{DFAC87D5-AD31-4FE1-9C11-AADCE6804CC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B7861-1F8F-48C5-B4F0-5B7C907613B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3A31E-FAC6-433C-9ED7-E43334F4D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5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7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9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4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26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3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9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8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5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5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05E-DF42-4425-A370-60FF7070C91E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52DAA-1DC9-4BDC-B393-363582F3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med-Makled1" TargetMode="External"/><Relationship Id="rId2" Type="http://schemas.openxmlformats.org/officeDocument/2006/relationships/hyperlink" Target="https://www.linkedin.com/in/ahmed1makled1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C21A246-E76B-4901-798D-50BCD6DC8248}"/>
              </a:ext>
            </a:extLst>
          </p:cNvPr>
          <p:cNvSpPr/>
          <p:nvPr/>
        </p:nvSpPr>
        <p:spPr>
          <a:xfrm>
            <a:off x="698103" y="2317155"/>
            <a:ext cx="4693742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Ahmed Makled</a:t>
            </a:r>
            <a:endParaRPr lang="en-US" sz="3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DD45BB2-DFC5-9933-3464-1B79961FAB91}"/>
              </a:ext>
            </a:extLst>
          </p:cNvPr>
          <p:cNvSpPr/>
          <p:nvPr/>
        </p:nvSpPr>
        <p:spPr>
          <a:xfrm>
            <a:off x="698104" y="2983607"/>
            <a:ext cx="6223794" cy="93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333" dirty="0">
                <a:solidFill>
                  <a:srgbClr val="38512F"/>
                </a:solidFill>
                <a:latin typeface="Times New Roman" panose="02020603050405020304" pitchFamily="18" charset="0"/>
                <a:ea typeface="Lora" pitchFamily="34" charset="-122"/>
                <a:cs typeface="Times New Roman" panose="02020603050405020304" pitchFamily="18" charset="0"/>
              </a:rPr>
              <a:t>Flutter Mobile Application Developer</a:t>
            </a:r>
            <a:endParaRPr lang="en-US" sz="2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A6F2D70-E37A-41E1-E8A1-29196A07DB3C}"/>
              </a:ext>
            </a:extLst>
          </p:cNvPr>
          <p:cNvSpPr/>
          <p:nvPr/>
        </p:nvSpPr>
        <p:spPr>
          <a:xfrm>
            <a:off x="698104" y="4221559"/>
            <a:ext cx="622379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Building scalable, high-performance cross-platform mobile apps.</a:t>
            </a:r>
            <a:endParaRPr lang="en-US" sz="1542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D0E7FC-8721-E9CF-F319-58E343DE2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897" y="775939"/>
            <a:ext cx="4953692" cy="50013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3340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6D2821C7-479E-8809-2E42-C63D4CCE33A6}"/>
              </a:ext>
            </a:extLst>
          </p:cNvPr>
          <p:cNvSpPr/>
          <p:nvPr/>
        </p:nvSpPr>
        <p:spPr>
          <a:xfrm>
            <a:off x="698104" y="1482527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About My Journey</a:t>
            </a:r>
            <a:endParaRPr lang="en-US" sz="291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0A288-B148-7507-A121-0E1A973B029F}"/>
              </a:ext>
            </a:extLst>
          </p:cNvPr>
          <p:cNvSpPr txBox="1"/>
          <p:nvPr/>
        </p:nvSpPr>
        <p:spPr>
          <a:xfrm>
            <a:off x="698103" y="2161307"/>
            <a:ext cx="10357824" cy="351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I’m a professional Flutter Mobile Developer specialized in building high-quality Android applications using Flutter, Firebase, and REST APIs.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I chose mobile development to deliver reliable, real-world solutions through well-structured and maintainable apps.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I continuously develop my skills by staying up to date with best practices and applying them in real-world mobile applications.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So far, I’ve built and maintained 100+ screens and 10+ production-ready applications from concept to deployment.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I work with startups, individuals, and small teams to deliver scalable, user-friendly mobile solutions.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I’m known for strong attention to detail, clean architecture, and a commitment to long-term code quality.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Looking for a dependable Flutter developer? Let’s connect.</a:t>
            </a:r>
          </a:p>
        </p:txBody>
      </p:sp>
    </p:spTree>
    <p:extLst>
      <p:ext uri="{BB962C8B-B14F-4D97-AF65-F5344CB8AC3E}">
        <p14:creationId xmlns:p14="http://schemas.microsoft.com/office/powerpoint/2010/main" val="158366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3F240E2-78E5-8C1B-3D9E-2103D971AFB8}"/>
              </a:ext>
            </a:extLst>
          </p:cNvPr>
          <p:cNvSpPr/>
          <p:nvPr/>
        </p:nvSpPr>
        <p:spPr>
          <a:xfrm>
            <a:off x="698104" y="1482527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Education</a:t>
            </a:r>
            <a:endParaRPr lang="en-US" sz="291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74A9F-36A9-14B6-E834-ADC87D98079A}"/>
              </a:ext>
            </a:extLst>
          </p:cNvPr>
          <p:cNvSpPr txBox="1"/>
          <p:nvPr/>
        </p:nvSpPr>
        <p:spPr>
          <a:xfrm>
            <a:off x="698103" y="2161307"/>
            <a:ext cx="10357824" cy="74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Lora" pitchFamily="2" charset="0"/>
                <a:cs typeface="Times New Roman" panose="02020603050405020304" pitchFamily="18" charset="0"/>
              </a:rPr>
              <a:t>2022 – 2026</a:t>
            </a: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: B.Sc. of Information Technology from Computer Science &amp; Artificial Intelligence  FCAI </a:t>
            </a:r>
            <a:br>
              <a:rPr lang="en-US" sz="1500" dirty="0">
                <a:latin typeface="Lora" pitchFamily="2" charset="0"/>
                <a:cs typeface="Times New Roman" panose="02020603050405020304" pitchFamily="18" charset="0"/>
              </a:rPr>
            </a:br>
            <a:r>
              <a:rPr lang="en-US" sz="1500" dirty="0">
                <a:latin typeface="Lora" pitchFamily="2" charset="0"/>
                <a:cs typeface="Times New Roman" panose="02020603050405020304" pitchFamily="18" charset="0"/>
              </a:rPr>
              <a:t>Damietta University  </a:t>
            </a:r>
          </a:p>
        </p:txBody>
      </p:sp>
    </p:spTree>
    <p:extLst>
      <p:ext uri="{BB962C8B-B14F-4D97-AF65-F5344CB8AC3E}">
        <p14:creationId xmlns:p14="http://schemas.microsoft.com/office/powerpoint/2010/main" val="410670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CEECB4B5-713E-000F-8818-005C909C4610}"/>
              </a:ext>
            </a:extLst>
          </p:cNvPr>
          <p:cNvSpPr/>
          <p:nvPr/>
        </p:nvSpPr>
        <p:spPr>
          <a:xfrm>
            <a:off x="698104" y="1482527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Core Skills</a:t>
            </a:r>
            <a:endParaRPr lang="en-US" sz="2917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89A35-E4DB-BC9B-7DCC-F4A66B91D59B}"/>
              </a:ext>
            </a:extLst>
          </p:cNvPr>
          <p:cNvSpPr txBox="1"/>
          <p:nvPr/>
        </p:nvSpPr>
        <p:spPr>
          <a:xfrm>
            <a:off x="698103" y="2161307"/>
            <a:ext cx="4742845" cy="2826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Flutter &amp; Dart development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State Management: Provider, Bloc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Clean Architecture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Android app development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Responsive &amp; adaptive UI design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Performance optimization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REST API integration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Firebase: Authentication, </a:t>
            </a:r>
            <a:r>
              <a:rPr lang="en-US" sz="1500" dirty="0" err="1"/>
              <a:t>Firestore</a:t>
            </a:r>
            <a:endParaRPr lang="en-US" sz="15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54A0C81-134F-6318-3BB2-0DFEEE195584}"/>
              </a:ext>
            </a:extLst>
          </p:cNvPr>
          <p:cNvSpPr/>
          <p:nvPr/>
        </p:nvSpPr>
        <p:spPr>
          <a:xfrm>
            <a:off x="6096001" y="1482527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Tools</a:t>
            </a:r>
            <a:endParaRPr lang="en-US" sz="291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E23D1-D114-8FAE-BB2D-E4E666828345}"/>
              </a:ext>
            </a:extLst>
          </p:cNvPr>
          <p:cNvSpPr txBox="1"/>
          <p:nvPr/>
        </p:nvSpPr>
        <p:spPr>
          <a:xfrm>
            <a:off x="6096000" y="2161307"/>
            <a:ext cx="4742845" cy="213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Git / GitHub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VS Code / Android Studio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Postman 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SQLite, Hive, </a:t>
            </a:r>
            <a:r>
              <a:rPr lang="en-US" sz="1500" dirty="0" err="1"/>
              <a:t>SharedPreferences</a:t>
            </a:r>
            <a:endParaRPr lang="en-US" sz="1500" dirty="0"/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JSON serialization / parsing</a:t>
            </a:r>
          </a:p>
          <a:p>
            <a:pPr marL="238115" indent="-238115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latin typeface="Lora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8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8104" y="2120107"/>
            <a:ext cx="379055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 Skills for Success</a:t>
            </a:r>
            <a:endParaRPr lang="en-US" sz="2917" dirty="0"/>
          </a:p>
        </p:txBody>
      </p:sp>
      <p:sp>
        <p:nvSpPr>
          <p:cNvPr id="5" name="Text 3"/>
          <p:cNvSpPr/>
          <p:nvPr/>
        </p:nvSpPr>
        <p:spPr>
          <a:xfrm>
            <a:off x="698104" y="3068142"/>
            <a:ext cx="5154613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Problem-Solving: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Analytical approach to identify and resolve complex development challenges.</a:t>
            </a:r>
            <a:endParaRPr lang="en-US" sz="1542" dirty="0"/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Clear and effective interaction with clients and team members.</a:t>
            </a:r>
            <a:endParaRPr lang="en-US" sz="1542" dirty="0"/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Management: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Efficiently handling multiple tasks and meeting project deadlines.</a:t>
            </a:r>
            <a:endParaRPr lang="en-US" sz="1542" dirty="0"/>
          </a:p>
        </p:txBody>
      </p:sp>
      <p:sp>
        <p:nvSpPr>
          <p:cNvPr id="6" name="Text 4"/>
          <p:cNvSpPr/>
          <p:nvPr/>
        </p:nvSpPr>
        <p:spPr>
          <a:xfrm>
            <a:off x="6345634" y="3068142"/>
            <a:ext cx="5154613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Learning: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Quick adaptation to new technologies and evolving industry standards.</a:t>
            </a:r>
            <a:endParaRPr lang="en-US" sz="1542" dirty="0"/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Teamwork/Independence: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Ability to thrive in both collaborative and autonomous environments.</a:t>
            </a:r>
            <a:endParaRPr lang="en-US" sz="1542" dirty="0"/>
          </a:p>
          <a:p>
            <a:pPr marL="285739" indent="-285739">
              <a:lnSpc>
                <a:spcPts val="2500"/>
              </a:lnSpc>
              <a:buSzPct val="100000"/>
              <a:buChar char="•"/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Adaptability: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Flexible and responsive to project changes and client feedback.</a:t>
            </a:r>
            <a:endParaRPr lang="en-US" sz="1542" dirty="0"/>
          </a:p>
        </p:txBody>
      </p:sp>
    </p:spTree>
    <p:extLst>
      <p:ext uri="{BB962C8B-B14F-4D97-AF65-F5344CB8AC3E}">
        <p14:creationId xmlns:p14="http://schemas.microsoft.com/office/powerpoint/2010/main" val="104458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DCF1F4F-8078-F1DC-8ADB-0FEED8319597}"/>
              </a:ext>
            </a:extLst>
          </p:cNvPr>
          <p:cNvSpPr/>
          <p:nvPr/>
        </p:nvSpPr>
        <p:spPr>
          <a:xfrm>
            <a:off x="698103" y="485481"/>
            <a:ext cx="709568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Work Experience &amp; Internship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0462A3-C81C-5C2B-759C-B43E2E6C8BBB}"/>
              </a:ext>
            </a:extLst>
          </p:cNvPr>
          <p:cNvSpPr txBox="1"/>
          <p:nvPr/>
        </p:nvSpPr>
        <p:spPr>
          <a:xfrm>
            <a:off x="698103" y="1137646"/>
            <a:ext cx="10708105" cy="5250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Digital Egypt Pioneers Initiative (DEPI) – Cross-Platform Mobile App Development</a:t>
            </a:r>
            <a:br>
              <a:rPr lang="en-US" sz="1500" dirty="0"/>
            </a:br>
            <a:r>
              <a:rPr lang="en-US" sz="1500" dirty="0"/>
              <a:t>Ministry of Communications and Information Technology | 07/2025 – Present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Invested </a:t>
            </a:r>
            <a:r>
              <a:rPr lang="en-US" sz="1500" b="1" dirty="0"/>
              <a:t>6 months</a:t>
            </a:r>
            <a:r>
              <a:rPr lang="en-US" sz="1500" dirty="0"/>
              <a:t> in a structured, hands-on program focused on full-cycle mobile app development.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Designed and developed comprehensive graduation project implementing complex UI and robust functionality.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Applied </a:t>
            </a:r>
            <a:r>
              <a:rPr lang="en-US" sz="1500" b="1" dirty="0"/>
              <a:t>Flutter, Firebase, REST APIs</a:t>
            </a:r>
            <a:r>
              <a:rPr lang="en-US" sz="1500" dirty="0"/>
              <a:t>, and state management solutions to build scalable, maintainable applications.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Gained strong exposure to </a:t>
            </a:r>
            <a:r>
              <a:rPr lang="en-US" sz="1500" b="1" dirty="0"/>
              <a:t>clean code principles, app architecture, and performance optimization</a:t>
            </a:r>
            <a:r>
              <a:rPr lang="en-US" sz="1500" dirty="0"/>
              <a:t>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Improved professional workflow using </a:t>
            </a:r>
            <a:r>
              <a:rPr lang="en-US" sz="1500" b="1" dirty="0"/>
              <a:t>version control, debugging, and testing techniques</a:t>
            </a:r>
            <a:r>
              <a:rPr lang="en-US" sz="1500" dirty="0"/>
              <a:t>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Strengthened experience in integrating </a:t>
            </a:r>
            <a:r>
              <a:rPr lang="en-US" sz="1500" b="1" dirty="0"/>
              <a:t>APIs, local storage solutions, and Flutter-based UI/UX best practices</a:t>
            </a:r>
            <a:r>
              <a:rPr lang="en-US" sz="1500" dirty="0"/>
              <a:t>.</a:t>
            </a:r>
          </a:p>
          <a:p>
            <a:pPr>
              <a:lnSpc>
                <a:spcPct val="150000"/>
              </a:lnSpc>
            </a:pPr>
            <a:endParaRPr lang="en-US" sz="1500" b="1" dirty="0"/>
          </a:p>
          <a:p>
            <a:pPr>
              <a:lnSpc>
                <a:spcPct val="150000"/>
              </a:lnSpc>
            </a:pPr>
            <a:r>
              <a:rPr lang="en-US" sz="1500" b="1" dirty="0"/>
              <a:t>National Telecommunication Institute (NTI) – Cross-Platform Mobile App Development</a:t>
            </a:r>
            <a:br>
              <a:rPr lang="en-US" sz="1500" dirty="0"/>
            </a:br>
            <a:r>
              <a:rPr lang="en-US" sz="1500" dirty="0"/>
              <a:t>Ministry of Communications and Information Technology | 02/2026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Invested </a:t>
            </a:r>
            <a:r>
              <a:rPr lang="en-US" sz="1500" b="1" dirty="0"/>
              <a:t>120+ hours</a:t>
            </a:r>
            <a:r>
              <a:rPr lang="en-US" sz="1500" dirty="0"/>
              <a:t> in intensive practical training, focusing on advanced mobile development concepts.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Practiced and implemented </a:t>
            </a:r>
            <a:r>
              <a:rPr lang="en-US" sz="1500" b="1" dirty="0"/>
              <a:t>Clean Architecture principles</a:t>
            </a:r>
            <a:r>
              <a:rPr lang="en-US" sz="1500" dirty="0"/>
              <a:t>, modular code, and scalable app design patterns.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Help identify and resolve technical issues as they arise during development.</a:t>
            </a:r>
          </a:p>
          <a:p>
            <a:pPr marL="238115" indent="-238115">
              <a:lnSpc>
                <a:spcPct val="150000"/>
              </a:lnSpc>
              <a:buFontTx/>
              <a:buChar char="-"/>
            </a:pPr>
            <a:r>
              <a:rPr lang="en-US" sz="1500" dirty="0"/>
              <a:t>Applied </a:t>
            </a:r>
            <a:r>
              <a:rPr lang="en-US" sz="1500" b="1" dirty="0"/>
              <a:t>Flutter, Firebase, REST APIs</a:t>
            </a:r>
            <a:r>
              <a:rPr lang="en-US" sz="1500" dirty="0"/>
              <a:t>, and state management solutions </a:t>
            </a:r>
          </a:p>
        </p:txBody>
      </p:sp>
    </p:spTree>
    <p:extLst>
      <p:ext uri="{BB962C8B-B14F-4D97-AF65-F5344CB8AC3E}">
        <p14:creationId xmlns:p14="http://schemas.microsoft.com/office/powerpoint/2010/main" val="170332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9DF24829-34E9-94EA-C25E-11C0F0463373}"/>
              </a:ext>
            </a:extLst>
          </p:cNvPr>
          <p:cNvSpPr/>
          <p:nvPr/>
        </p:nvSpPr>
        <p:spPr>
          <a:xfrm>
            <a:off x="698103" y="485481"/>
            <a:ext cx="709568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Offered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DBE79-8EBE-B2BF-5C2E-17E212D759A2}"/>
              </a:ext>
            </a:extLst>
          </p:cNvPr>
          <p:cNvSpPr txBox="1"/>
          <p:nvPr/>
        </p:nvSpPr>
        <p:spPr>
          <a:xfrm>
            <a:off x="698103" y="1363579"/>
            <a:ext cx="50699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Mobile UI/UX Design</a:t>
            </a:r>
          </a:p>
          <a:p>
            <a:r>
              <a:rPr lang="en-US" sz="1500" dirty="0"/>
              <a:t>Design original and visually appealing mobile interfaces.</a:t>
            </a:r>
          </a:p>
          <a:p>
            <a:r>
              <a:rPr lang="en-US" sz="1500" dirty="0"/>
              <a:t>Create interactive layouts and prototypes that focus on user experience.</a:t>
            </a:r>
            <a:endParaRPr lang="ar-EG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7471E-8B69-0F89-4441-23734EAD57CD}"/>
              </a:ext>
            </a:extLst>
          </p:cNvPr>
          <p:cNvSpPr txBox="1"/>
          <p:nvPr/>
        </p:nvSpPr>
        <p:spPr>
          <a:xfrm>
            <a:off x="698102" y="2928863"/>
            <a:ext cx="50699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UI/UX Implementation in Flutter</a:t>
            </a:r>
          </a:p>
          <a:p>
            <a:r>
              <a:rPr lang="en-US" sz="1500" dirty="0"/>
              <a:t>Implement your own designs directly in Flutter.</a:t>
            </a:r>
          </a:p>
          <a:p>
            <a:r>
              <a:rPr lang="en-US" sz="1500" dirty="0"/>
              <a:t>Convert Figma or Adobe XD designs into fully functional Flutter applications.</a:t>
            </a:r>
            <a:endParaRPr lang="ar-EG" sz="1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75FB0-B512-2198-B6C1-063D170D4F8C}"/>
              </a:ext>
            </a:extLst>
          </p:cNvPr>
          <p:cNvSpPr txBox="1"/>
          <p:nvPr/>
        </p:nvSpPr>
        <p:spPr>
          <a:xfrm>
            <a:off x="6095999" y="1363580"/>
            <a:ext cx="539789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State Management &amp; Clean Architecture</a:t>
            </a:r>
          </a:p>
          <a:p>
            <a:r>
              <a:rPr lang="en-US" sz="1500" dirty="0"/>
              <a:t>Implement state management solutions (Provider, Bloc) with scalable architecture.</a:t>
            </a:r>
          </a:p>
          <a:p>
            <a:r>
              <a:rPr lang="en-US" sz="1500" dirty="0"/>
              <a:t>Develop maintainable applications focusing on performance and clean code principles.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B6FA66-62FB-53FA-58F7-789443EFCA8D}"/>
              </a:ext>
            </a:extLst>
          </p:cNvPr>
          <p:cNvSpPr txBox="1"/>
          <p:nvPr/>
        </p:nvSpPr>
        <p:spPr>
          <a:xfrm>
            <a:off x="698101" y="4468623"/>
            <a:ext cx="50699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Backend Integration &amp; API Development</a:t>
            </a:r>
          </a:p>
          <a:p>
            <a:r>
              <a:rPr lang="en-US" sz="1500" dirty="0"/>
              <a:t>Integrate REST APIs or Firebase backend into the app.</a:t>
            </a:r>
          </a:p>
          <a:p>
            <a:r>
              <a:rPr lang="en-US" sz="1500" dirty="0"/>
              <a:t>Handle real-time data, local storage (Hive, SQLite, </a:t>
            </a:r>
            <a:r>
              <a:rPr lang="en-US" sz="1500" dirty="0" err="1"/>
              <a:t>SharedPreferences</a:t>
            </a:r>
            <a:r>
              <a:rPr lang="en-US" sz="1500" dirty="0"/>
              <a:t>), and cloud sync.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2854E-F236-013F-3559-D3DAD2F0F20F}"/>
              </a:ext>
            </a:extLst>
          </p:cNvPr>
          <p:cNvSpPr txBox="1"/>
          <p:nvPr/>
        </p:nvSpPr>
        <p:spPr>
          <a:xfrm>
            <a:off x="6095999" y="2928863"/>
            <a:ext cx="55137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Performance Optimization &amp; Debugging</a:t>
            </a:r>
          </a:p>
          <a:p>
            <a:r>
              <a:rPr lang="en-US" sz="1500" dirty="0"/>
              <a:t>Optimize app speed and overall performance.</a:t>
            </a:r>
          </a:p>
          <a:p>
            <a:r>
              <a:rPr lang="en-US" sz="1500" dirty="0"/>
              <a:t>Debug and monitor apps using Flutter </a:t>
            </a:r>
            <a:r>
              <a:rPr lang="en-US" sz="1500" dirty="0" err="1"/>
              <a:t>DevTools</a:t>
            </a:r>
            <a:r>
              <a:rPr lang="en-US" sz="1500" dirty="0"/>
              <a:t> and profiling techniques.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BE328-CE93-8486-7C47-FDEBB2188197}"/>
              </a:ext>
            </a:extLst>
          </p:cNvPr>
          <p:cNvSpPr txBox="1"/>
          <p:nvPr/>
        </p:nvSpPr>
        <p:spPr>
          <a:xfrm>
            <a:off x="6095999" y="4468623"/>
            <a:ext cx="376385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Testing &amp; Deployment</a:t>
            </a:r>
          </a:p>
          <a:p>
            <a:r>
              <a:rPr lang="en-US" sz="1500" dirty="0"/>
              <a:t>Perform Unit, Widget, and Integration testing.</a:t>
            </a:r>
          </a:p>
          <a:p>
            <a:r>
              <a:rPr lang="en-US" sz="1500" dirty="0"/>
              <a:t>Deploy apps to Google Play Store</a:t>
            </a:r>
          </a:p>
        </p:txBody>
      </p:sp>
    </p:spTree>
    <p:extLst>
      <p:ext uri="{BB962C8B-B14F-4D97-AF65-F5344CB8AC3E}">
        <p14:creationId xmlns:p14="http://schemas.microsoft.com/office/powerpoint/2010/main" val="4234586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5D457-249E-3BA1-3A8D-65FF1F3A95A7}"/>
              </a:ext>
            </a:extLst>
          </p:cNvPr>
          <p:cNvSpPr txBox="1"/>
          <p:nvPr/>
        </p:nvSpPr>
        <p:spPr>
          <a:xfrm>
            <a:off x="698104" y="930629"/>
            <a:ext cx="10896316" cy="5596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Project Description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 professional weather application built with </a:t>
            </a:r>
            <a:r>
              <a:rPr lang="en-US" sz="1500" b="1" dirty="0"/>
              <a:t>Flutter</a:t>
            </a:r>
            <a:r>
              <a:rPr lang="en-US" sz="1500" dirty="0"/>
              <a:t> that allows users to check the weather for any city in the world accurately and easily.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Key Features: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Search for any city worldwide and view current weather conditions.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Display a </a:t>
            </a:r>
            <a:r>
              <a:rPr lang="en-US" sz="1500" b="1" dirty="0"/>
              <a:t>7-day weather forecast</a:t>
            </a:r>
            <a:r>
              <a:rPr lang="en-US" sz="1500" dirty="0"/>
              <a:t> with temperature, humidity, and weather descriptions.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Attractive, clean, and responsive user interface supporting both </a:t>
            </a:r>
            <a:r>
              <a:rPr lang="en-US" sz="1500" b="1" dirty="0"/>
              <a:t>Arabic and English</a:t>
            </a:r>
            <a:r>
              <a:rPr lang="en-US" sz="15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Weather icons and images for easy navigation and visual clarity.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High performance and smooth user experience across devices.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Technologies &amp; Tools: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Flutter &amp; Dart for cross-platform development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APIs for real-time weather data integration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State management using </a:t>
            </a:r>
            <a:r>
              <a:rPr lang="en-US" sz="1500" b="1" dirty="0"/>
              <a:t>Provider</a:t>
            </a:r>
            <a:r>
              <a:rPr lang="en-US" sz="1500" dirty="0"/>
              <a:t> for scalable architecture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Highlights: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Designed and implemented the entire UI/UX for a smooth, interactive experience.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Focused on clean, maintainable code and optimized performance.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Gained practical experience in API integration, responsive design, and localization.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C1C58F-493F-F93B-C38A-B7570E3EA0C7}"/>
              </a:ext>
            </a:extLst>
          </p:cNvPr>
          <p:cNvSpPr/>
          <p:nvPr/>
        </p:nvSpPr>
        <p:spPr>
          <a:xfrm>
            <a:off x="698104" y="464721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Professional Weather App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038B68-7019-3023-4CD2-3B698271A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55" y="1402888"/>
            <a:ext cx="6811818" cy="510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1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C2D462-5550-B158-5A81-1D098E40F8C7}"/>
              </a:ext>
            </a:extLst>
          </p:cNvPr>
          <p:cNvSpPr txBox="1"/>
          <p:nvPr/>
        </p:nvSpPr>
        <p:spPr>
          <a:xfrm>
            <a:off x="698104" y="966789"/>
            <a:ext cx="10825476" cy="490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Project Description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 smart mobile application built with </a:t>
            </a:r>
            <a:r>
              <a:rPr lang="en-US" sz="1500" b="1" dirty="0"/>
              <a:t>Flutter</a:t>
            </a:r>
            <a:r>
              <a:rPr lang="en-US" sz="1500" dirty="0"/>
              <a:t> that allows users to follow the latest news from multiple sources in one place, with quick search and easy access to any topic.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Key Features: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Display the latest news from various websites in a clean and user-friendly interface.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Advanced search functionality to find news by title or keywords.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Open news articles directly within the app using a </a:t>
            </a:r>
            <a:r>
              <a:rPr lang="en-US" sz="1500" b="1" dirty="0"/>
              <a:t>WebView</a:t>
            </a:r>
            <a:r>
              <a:rPr lang="en-US" sz="1500" dirty="0"/>
              <a:t>, without leaving the application.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Browse news by source; tap on a source name to see all its articles.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Responsive and fast design providing a smooth user experience across devices.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Technologies &amp; Tools: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Flutter &amp; Dart for cross-platform development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APIs for fetching real-time news data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State management using </a:t>
            </a:r>
            <a:r>
              <a:rPr lang="en-US" sz="1500" b="1" dirty="0"/>
              <a:t>Provider</a:t>
            </a:r>
            <a:r>
              <a:rPr lang="en-US" sz="1500" dirty="0"/>
              <a:t> for scalable architecture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WebView integration for in-app news viewing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11D933-9961-8ACD-6B4C-2DDB370AE258}"/>
              </a:ext>
            </a:extLst>
          </p:cNvPr>
          <p:cNvSpPr/>
          <p:nvPr/>
        </p:nvSpPr>
        <p:spPr>
          <a:xfrm>
            <a:off x="698103" y="330220"/>
            <a:ext cx="423484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Professional News App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1A7BE-529A-4495-1BFC-F3F50816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834" y="1281545"/>
            <a:ext cx="6518167" cy="488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29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DBEF66-4878-6A2D-4677-009515099AAC}"/>
              </a:ext>
            </a:extLst>
          </p:cNvPr>
          <p:cNvSpPr txBox="1"/>
          <p:nvPr/>
        </p:nvSpPr>
        <p:spPr>
          <a:xfrm>
            <a:off x="698103" y="966788"/>
            <a:ext cx="9511002" cy="5596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Project Description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 mobile application built with </a:t>
            </a:r>
            <a:r>
              <a:rPr lang="en-US" sz="1500" b="1" dirty="0"/>
              <a:t>Flutter</a:t>
            </a:r>
            <a:r>
              <a:rPr lang="en-US" sz="1500" dirty="0"/>
              <a:t> that allows users to create, manage, and organize their personal notes efficiently.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Key Features: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Add, edit, and delete notes with ease.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Organize notes by categories or tags for quick access.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Search functionality to find notes instantly.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User-friendly interface with a clean and minimal design.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Offline storage using </a:t>
            </a:r>
            <a:r>
              <a:rPr lang="en-US" sz="1500" b="1" dirty="0"/>
              <a:t>Hive</a:t>
            </a:r>
            <a:r>
              <a:rPr lang="en-US" sz="1500" dirty="0"/>
              <a:t> for secure and fast access.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Technologies &amp; Tools: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Flutter &amp; Dart for cross-platform development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Local database: </a:t>
            </a:r>
            <a:r>
              <a:rPr lang="en-US" sz="1500" b="1" dirty="0"/>
              <a:t>Hive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State management using </a:t>
            </a:r>
            <a:r>
              <a:rPr lang="en-US" sz="1500" b="1" dirty="0"/>
              <a:t>Provider</a:t>
            </a:r>
            <a:r>
              <a:rPr lang="en-US" sz="1500" dirty="0"/>
              <a:t> for scalable architecture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Highlights: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Designed and implemented the entire UI/UX for a smooth user experience.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Focused on clean, maintainable code and high performance.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Gained hands-on experience with local storage, state management, and responsive design.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C745B8-5355-8467-89FE-AE8CBA055C04}"/>
              </a:ext>
            </a:extLst>
          </p:cNvPr>
          <p:cNvSpPr/>
          <p:nvPr/>
        </p:nvSpPr>
        <p:spPr>
          <a:xfrm>
            <a:off x="698104" y="491457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Professional Notes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2739D-C985-9E90-3CAE-1F7AF48F7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728" y="1472046"/>
            <a:ext cx="7088909" cy="531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8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79F767-6E3F-8515-5D36-B89EA635CC6A}"/>
              </a:ext>
            </a:extLst>
          </p:cNvPr>
          <p:cNvSpPr txBox="1"/>
          <p:nvPr/>
        </p:nvSpPr>
        <p:spPr>
          <a:xfrm>
            <a:off x="698103" y="1669480"/>
            <a:ext cx="10825476" cy="3519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/>
              <a:t>Project Description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 real-time chat application built with </a:t>
            </a:r>
            <a:r>
              <a:rPr lang="en-US" sz="1500" b="1" dirty="0"/>
              <a:t>Flutter</a:t>
            </a:r>
            <a:r>
              <a:rPr lang="en-US" sz="1500" dirty="0"/>
              <a:t> and </a:t>
            </a:r>
            <a:r>
              <a:rPr lang="en-US" sz="1500" b="1" dirty="0"/>
              <a:t>Firebase</a:t>
            </a:r>
            <a:r>
              <a:rPr lang="en-US" sz="1500" dirty="0"/>
              <a:t> for instant text messaging with a clean and user-friendly interface.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Key Features: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Sign up and log in using email accounts.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One-on-one chats with real-time messaging via </a:t>
            </a:r>
            <a:r>
              <a:rPr lang="en-US" sz="1500" b="1" dirty="0"/>
              <a:t>Firebase </a:t>
            </a:r>
            <a:r>
              <a:rPr lang="en-US" sz="1500" b="1" dirty="0" err="1"/>
              <a:t>Firestore</a:t>
            </a:r>
            <a:r>
              <a:rPr lang="en-US" sz="15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Audio notifications for new messages.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Clean UI with chat bubbles and auto-scroll to the latest message.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High performance with smooth and responsive design across devices.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Technologies &amp; Tools: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/>
              <a:t>Flutter &amp; Dart, Firebase </a:t>
            </a:r>
            <a:r>
              <a:rPr lang="en-US" sz="1500" dirty="0" err="1"/>
              <a:t>Firestore</a:t>
            </a:r>
            <a:r>
              <a:rPr lang="en-US" sz="1500" dirty="0"/>
              <a:t>, Firebase Authentication, </a:t>
            </a:r>
            <a:r>
              <a:rPr lang="en-US" sz="1500" dirty="0" err="1"/>
              <a:t>AudioPlayers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47FF90-941B-64A0-B636-D3B92F7E47D6}"/>
              </a:ext>
            </a:extLst>
          </p:cNvPr>
          <p:cNvSpPr/>
          <p:nvPr/>
        </p:nvSpPr>
        <p:spPr>
          <a:xfrm>
            <a:off x="698103" y="966788"/>
            <a:ext cx="423484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917" dirty="0">
                <a:solidFill>
                  <a:srgbClr val="38512F"/>
                </a:solidFill>
                <a:latin typeface="Lora" pitchFamily="34" charset="0"/>
              </a:rPr>
              <a:t>Professional Chat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ED1556-9601-F2A3-931D-9F327B606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76" y="2451360"/>
            <a:ext cx="5176403" cy="3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11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33626" y="1602681"/>
            <a:ext cx="3754933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Let's Build Together</a:t>
            </a:r>
            <a:endParaRPr lang="en-US" sz="2917" dirty="0"/>
          </a:p>
        </p:txBody>
      </p:sp>
      <p:sp>
        <p:nvSpPr>
          <p:cNvPr id="4" name="Text 1"/>
          <p:cNvSpPr/>
          <p:nvPr/>
        </p:nvSpPr>
        <p:spPr>
          <a:xfrm>
            <a:off x="947481" y="2371229"/>
            <a:ext cx="622379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Ready to transform your ideas into exceptional mobile experiences?</a:t>
            </a:r>
            <a:endParaRPr lang="en-US" sz="1542" dirty="0"/>
          </a:p>
        </p:txBody>
      </p:sp>
      <p:sp>
        <p:nvSpPr>
          <p:cNvPr id="5" name="Text 2"/>
          <p:cNvSpPr/>
          <p:nvPr/>
        </p:nvSpPr>
        <p:spPr>
          <a:xfrm>
            <a:off x="933626" y="311418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Contact Me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933626" y="3606899"/>
            <a:ext cx="28686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Phone: 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+201009269051</a:t>
            </a:r>
            <a:endParaRPr lang="en-US" sz="1542" dirty="0"/>
          </a:p>
        </p:txBody>
      </p:sp>
      <p:sp>
        <p:nvSpPr>
          <p:cNvPr id="7" name="Text 4"/>
          <p:cNvSpPr/>
          <p:nvPr/>
        </p:nvSpPr>
        <p:spPr>
          <a:xfrm>
            <a:off x="933626" y="4105572"/>
            <a:ext cx="28686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Email:</a:t>
            </a:r>
            <a:r>
              <a:rPr lang="en-US" sz="1542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ahmed1.makled1@gmail.com</a:t>
            </a:r>
            <a:endParaRPr lang="en-US" sz="1542" dirty="0"/>
          </a:p>
        </p:txBody>
      </p:sp>
      <p:sp>
        <p:nvSpPr>
          <p:cNvPr id="8" name="Text 5"/>
          <p:cNvSpPr/>
          <p:nvPr/>
        </p:nvSpPr>
        <p:spPr>
          <a:xfrm>
            <a:off x="7246178" y="3114180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Connect Online</a:t>
            </a:r>
            <a:endParaRPr lang="en-US" sz="1833" dirty="0"/>
          </a:p>
        </p:txBody>
      </p:sp>
      <p:sp>
        <p:nvSpPr>
          <p:cNvPr id="9" name="Text 6"/>
          <p:cNvSpPr/>
          <p:nvPr/>
        </p:nvSpPr>
        <p:spPr>
          <a:xfrm>
            <a:off x="7246178" y="3606899"/>
            <a:ext cx="28686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u="sng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Profile</a:t>
            </a:r>
            <a:endParaRPr lang="en-US" sz="1542" dirty="0"/>
          </a:p>
        </p:txBody>
      </p:sp>
      <p:sp>
        <p:nvSpPr>
          <p:cNvPr id="11" name="Text 8"/>
          <p:cNvSpPr/>
          <p:nvPr/>
        </p:nvSpPr>
        <p:spPr>
          <a:xfrm>
            <a:off x="4688559" y="5475880"/>
            <a:ext cx="2816225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208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You!</a:t>
            </a:r>
            <a:endParaRPr lang="en-US" sz="2208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27249D23-3E98-EEFA-53D4-0D983FAE2B5E}"/>
              </a:ext>
            </a:extLst>
          </p:cNvPr>
          <p:cNvSpPr/>
          <p:nvPr/>
        </p:nvSpPr>
        <p:spPr>
          <a:xfrm>
            <a:off x="7246178" y="4105572"/>
            <a:ext cx="286861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u="sng" dirty="0">
                <a:solidFill>
                  <a:srgbClr val="38512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Profile</a:t>
            </a:r>
            <a:endParaRPr lang="en-US" sz="1542" dirty="0"/>
          </a:p>
        </p:txBody>
      </p:sp>
    </p:spTree>
    <p:extLst>
      <p:ext uri="{BB962C8B-B14F-4D97-AF65-F5344CB8AC3E}">
        <p14:creationId xmlns:p14="http://schemas.microsoft.com/office/powerpoint/2010/main" val="1957873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F059DA575DE34DBC31D7E477EB2F50" ma:contentTypeVersion="4" ma:contentTypeDescription="Create a new document." ma:contentTypeScope="" ma:versionID="5eab4e8c2eecbe2bffb2aee04524cbe4">
  <xsd:schema xmlns:xsd="http://www.w3.org/2001/XMLSchema" xmlns:xs="http://www.w3.org/2001/XMLSchema" xmlns:p="http://schemas.microsoft.com/office/2006/metadata/properties" xmlns:ns3="788e85a1-dfdb-47f4-8832-87015b8c44b4" targetNamespace="http://schemas.microsoft.com/office/2006/metadata/properties" ma:root="true" ma:fieldsID="c6de2a9f80de23373a04e505006943f8" ns3:_="">
    <xsd:import namespace="788e85a1-dfdb-47f4-8832-87015b8c44b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8e85a1-dfdb-47f4-8832-87015b8c4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597AF2-664E-4B8F-BAF8-7CD86D1EEE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8e85a1-dfdb-47f4-8832-87015b8c44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49A473-4644-4C4E-9C54-2D2ABE7092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BBC69-7700-4AB8-87EB-CE19E1FE9F61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788e85a1-dfdb-47f4-8832-87015b8c44b4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1198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Lora</vt:lpstr>
      <vt:lpstr>Source Sans 3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Nasr Makled</dc:creator>
  <cp:lastModifiedBy>Ahmed Nasr Makled</cp:lastModifiedBy>
  <cp:revision>1</cp:revision>
  <dcterms:created xsi:type="dcterms:W3CDTF">2026-02-16T16:39:05Z</dcterms:created>
  <dcterms:modified xsi:type="dcterms:W3CDTF">2026-02-16T16:48:33Z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0x0101004DF059DA575DE34DBC31D7E477EB2F50</vt:lpwstr>
  </property>
</Properties>
</file>